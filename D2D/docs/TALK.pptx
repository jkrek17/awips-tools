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asymmetric.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asymmetric,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asymmetric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capture is the 48 hour frame of the 20 September run, the storm east of Japan at 976 millibars, class 3, with B at 36, the lower term at 114 and the upper at minus 102. The class reads at the storm's center, one number for one of seven classes built from Hart's two diagrams: symmetric or asymmetric,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docs/cps/figures/fig10_cave_4panel.jpg">    </p:cNvPr>
          <p:cNvPicPr>
            <a:picLocks noChangeAspect="1"/>
          </p:cNvPicPr>
          <p:nvPr/>
        </p:nvPicPr>
        <p:blipFill>
          <a:blip r:embed="rId1"/>
          <a:stretch>
            <a:fillRect/>
          </a:stretch>
        </p:blipFill>
        <p:spPr>
          <a:xfrm>
            <a:off x="4663440" y="1550568"/>
            <a:ext cx="4206240" cy="20423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asymmetric</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10_cave_4panel.jpg">    </p:cNvPr>
          <p:cNvPicPr>
            <a:picLocks noChangeAspect="1"/>
          </p:cNvPicPr>
          <p:nvPr/>
        </p:nvPicPr>
        <p:blipFill>
          <a:blip r:embed="rId1"/>
          <a:stretch>
            <a:fillRect/>
          </a:stretch>
        </p:blipFill>
        <p:spPr>
          <a:xfrm>
            <a:off x="457200" y="914400"/>
            <a:ext cx="5394960" cy="2619553"/>
          </a:xfrm>
          <a:prstGeom prst="rect">
            <a:avLst/>
          </a:prstGeom>
        </p:spPr>
      </p:pic>
      <p:sp>
        <p:nvSpPr>
          <p:cNvPr id="4" name="Text 1"/>
          <p:cNvSpPr txBox="1"/>
          <p:nvPr/>
        </p:nvSpPr>
        <p:spPr>
          <a:xfrm>
            <a:off x="457200" y="3607105"/>
            <a:ext cx="5394960" cy="548640"/>
          </a:xfrm>
          <a:prstGeom prst="rect">
            <a:avLst/>
          </a:prstGeom>
          <a:noFill/>
          <a:ln/>
        </p:spPr>
        <p:txBody>
          <a:bodyPr wrap="square" lIns="0" tIns="0" rIns="0" bIns="0" rtlCol="0" anchor="t"/>
          <a:lstStyle/>
          <a:p>
            <a:pPr algn="l" indent="0" marL="0">
              <a:buNone/>
            </a:pPr>
            <a:r>
              <a:rPr lang="en-US" sz="1000" i="1" dirty="0">
                <a:solidFill>
                  <a:srgbClr val="52514E"/>
                </a:solidFill>
                <a:latin typeface="Calibri" pitchFamily="34" charset="0"/>
                <a:ea typeface="Calibri" pitchFamily="34" charset="-122"/>
                <a:cs typeface="Calibri" pitchFamily="34" charset="-120"/>
              </a:rPr>
              <a:t>CAVE four-panel procedure, 48 h of the 20 Sep 06Z GFS: class (top left), B (top right), HVTL and HVTU (bottom left), index (bottom right). Storm at 976 mb: class 3, B 36 m, HVTL +114 m, HVTU -102 m.</a:t>
            </a:r>
            <a:endParaRPr lang="en-US" sz="1000" dirty="0"/>
          </a:p>
        </p:txBody>
      </p:sp>
      <p:sp>
        <p:nvSpPr>
          <p:cNvPr id="5" name="Text 2"/>
          <p:cNvSpPr txBox="1"/>
          <p:nvPr/>
        </p:nvSpPr>
        <p:spPr>
          <a:xfrm>
            <a:off x="6126480" y="914400"/>
            <a:ext cx="2560320" cy="3291840"/>
          </a:xfrm>
          <a:prstGeom prst="rect">
            <a:avLst/>
          </a:prstGeom>
          <a:noFill/>
          <a:ln/>
        </p:spPr>
        <p:txBody>
          <a:bodyPr wrap="square" lIns="0" tIns="0" rIns="0" bIns="0" rtlCol="0" anchor="t"/>
          <a:lstStyle/>
          <a:p>
            <a:pPr algn="l" indent="0" marL="0">
              <a:buNone/>
            </a:pPr>
            <a:r>
              <a:rPr lang="en-US" sz="13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a:t>
            </a:r>
            <a:endParaRPr lang="en-US" sz="1300" dirty="0"/>
          </a:p>
          <a:p>
            <a:pPr algn="l" indent="0" marL="0">
              <a:buNone/>
            </a:pPr>
            <a:endParaRPr lang="en-US" sz="1300" dirty="0"/>
          </a:p>
          <a:p>
            <a:pPr algn="l" indent="0" marL="0">
              <a:buNone/>
            </a:pPr>
            <a:r>
              <a:rPr lang="en-US" sz="1300" dirty="0">
                <a:solidFill>
                  <a:srgbClr val="0B0B0B"/>
                </a:solidFill>
                <a:latin typeface="Calibri" pitchFamily="34" charset="0"/>
                <a:ea typeface="Calibri" pitchFamily="34" charset="-122"/>
                <a:cs typeface="Calibri" pitchFamily="34" charset="-120"/>
              </a:rPr>
              <a:t>Compare models on the hour HB crosses 10 m and the hour HVTL crosses zero.</a:t>
            </a:r>
            <a:endParaRPr lang="en-US" sz="13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D2D</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2026-09-21T15:57:58Z</dcterms:created>
  <dcterms:modified xsi:type="dcterms:W3CDTF">2026-09-21T15:57:58Z</dcterms:modified>
</cp:coreProperties>
</file>