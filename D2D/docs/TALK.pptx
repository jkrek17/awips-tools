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Two are thermal wind terms, lower and upper troposphere, which say whether the core is warmer or colder than its surroundings. Positive is warm core, a hurricane. Negative is cold core, an extratropical low. The third, B, measures the temperature contrast across the storm's track, which is whether it's frontal.
Plotted against each other, a storm traces a path. A hurricane starts in the deep warm core corner. During extratropical transition it loses the upper warm core, then the lower one, and ends up cold core. Evans and Hart showed the crossings give objective onset and completion times for transition. And transition is when the wind field expands, so for a marine center this is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the only operational access was FSU's web page: static plots, computed externally, for tracked tropical cyclones only. The hybrid, post-tropical, and non-tropical systems that OPC actually warns on aren't on it.
We reformulated the parameters as gridded fields and implemented them as AWIPS derived parameters. At every grid point, the code takes the height range inside a 500 kilometer window at each level and regresses it against log pressure. That is Hart's exact quantity, evaluated everywhere instead of at one tracked center. It needs only geopotential height on standard levels, surface pressure, and winds, so it works on every model in D2D with no tracker and no advisory. A closed-low detector on the 1000 hPa height blanks everything that isn't a real low,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tried a cheaper version first, differencing vorticity between levels. It fails in a specific way worth knowing. A baroclinic low is tilted: its upper trough sits west of the surface center. At the surface low the upper vorticity is weak, so the proxy reads warm, and the cold signal shows up displaced to the west as a dipole. Hart's window spans the tilt and reads cold at the center. This figure is that comparison on a synthetic tilted low: the proxy near zero at the center, the Hart field at minus 285 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panels: the lower and upper terms, a category field, and an index. The category reads at the storm's center: 4 is deep warm core, 3 shallow, 1 cold, blank means no closed low. Step through the frames and the first hour the category leaves 4 is the loss of the deep warm core. Load a second model beside it and where they disagree on that hour is your transition uncertainty. That is a product nobody had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 typhoon at 984 millibars read 120 and 180 meters, class 4, squarely in the range Hart published for hurricanes. For Typhoon Dujuan, the hour our class dropped below 4 matched the hour FSU's page showed the same GFS run moving from deep to shallow warm core. And a deep North Atlantic low classified cold core, which the vorticity shortcut could not do. Greenland and the Rockies come out blank rather than contaminated. Compute cost is about a second per frame on the full global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251960"/>
            <a:ext cx="3931920" cy="365760"/>
          </a:xfrm>
          <a:prstGeom prst="rect">
            <a:avLst/>
          </a:prstGeom>
          <a:noFill/>
          <a:ln/>
        </p:spPr>
        <p:txBody>
          <a:bodyPr wrap="square" lIns="0" tIns="0" rIns="0" bIns="0" rtlCol="0" anchor="t"/>
          <a:lstStyle/>
          <a:p>
            <a:pPr algn="l" indent="0" marL="0">
              <a:buNone/>
            </a:pPr>
            <a:r>
              <a:rPr lang="en-US" sz="1400" dirty="0">
                <a:solidFill>
                  <a:srgbClr val="CADCFC"/>
                </a:solidFill>
                <a:latin typeface="Calibri" pitchFamily="34" charset="0"/>
                <a:ea typeface="Calibri" pitchFamily="34" charset="-122"/>
                <a:cs typeface="Calibri" pitchFamily="34" charset="-120"/>
              </a:rPr>
              <a:t>[Author], 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846320" y="1460411"/>
            <a:ext cx="3840480" cy="22226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home/user/awips-tools/docs/cps/figures/fig1_phase_space.png">    </p:cNvPr>
          <p:cNvPicPr>
            <a:picLocks noChangeAspect="1"/>
          </p:cNvPicPr>
          <p:nvPr/>
        </p:nvPicPr>
        <p:blipFill>
          <a:blip r:embed="rId1"/>
          <a:stretch>
            <a:fillRect/>
          </a:stretch>
        </p:blipFill>
        <p:spPr>
          <a:xfrm>
            <a:off x="3931920" y="937590"/>
            <a:ext cx="4754880" cy="3382620"/>
          </a:xfrm>
          <a:prstGeom prst="rect">
            <a:avLst/>
          </a:prstGeom>
        </p:spPr>
      </p:pic>
      <p:sp>
        <p:nvSpPr>
          <p:cNvPr id="4" name="Text 1"/>
          <p:cNvSpPr txBox="1"/>
          <p:nvPr/>
        </p:nvSpPr>
        <p:spPr>
          <a:xfrm>
            <a:off x="457200" y="937590"/>
            <a:ext cx="3200400" cy="219456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Lower thermal wind: warm or cold core, 925 to 700 hPa</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Upper thermal wind: warm or cold core, 500 to 300 hPa</a:t>
            </a:r>
            <a:endParaRPr lang="en-US" sz="1600" dirty="0"/>
          </a:p>
          <a:p>
            <a:pPr algn="l" marL="342900" indent="-342900">
              <a:buSzPct val="100000"/>
              <a:buChar char="•"/>
            </a:pPr>
            <a:r>
              <a:rPr lang="en-US" sz="1600" dirty="0">
                <a:solidFill>
                  <a:srgbClr val="0B0B0B"/>
                </a:solidFill>
                <a:latin typeface="Calibri" pitchFamily="34" charset="0"/>
                <a:ea typeface="Calibri" pitchFamily="34" charset="-122"/>
                <a:cs typeface="Calibri" pitchFamily="34" charset="-120"/>
              </a:rPr>
              <a:t>B: temperature contrast across the track (frontal or not)</a:t>
            </a:r>
            <a:endParaRPr lang="en-US" sz="1600" dirty="0"/>
          </a:p>
        </p:txBody>
      </p:sp>
      <p:sp>
        <p:nvSpPr>
          <p:cNvPr id="5" name="Text 2"/>
          <p:cNvSpPr txBox="1"/>
          <p:nvPr/>
        </p:nvSpPr>
        <p:spPr>
          <a:xfrm>
            <a:off x="457200" y="3360750"/>
            <a:ext cx="3200400" cy="1005840"/>
          </a:xfrm>
          <a:prstGeom prst="rect">
            <a:avLst/>
          </a:prstGeom>
          <a:noFill/>
          <a:ln/>
        </p:spPr>
        <p:txBody>
          <a:bodyPr wrap="square" lIns="0" tIns="0" rIns="0" bIns="0" rtlCol="0" anchor="t"/>
          <a:lstStyle/>
          <a:p>
            <a:pPr algn="l" indent="0" marL="0">
              <a:buNone/>
            </a:pPr>
            <a:r>
              <a:rPr lang="en-US" sz="1400" i="1" dirty="0">
                <a:solidFill>
                  <a:srgbClr val="52514E"/>
                </a:solidFill>
                <a:latin typeface="Calibri" pitchFamily="34" charset="0"/>
                <a:ea typeface="Calibri" pitchFamily="34" charset="-122"/>
                <a:cs typeface="Calibri" pitchFamily="34" charset="-120"/>
              </a:rPr>
              <a:t>Transition = the path from deep warm core to cold core. That is when the wind field expands.</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home/user/awips-tools/docs/cps/figures/fig3_gridded.png">    </p:cNvPr>
          <p:cNvPicPr>
            <a:picLocks noChangeAspect="1"/>
          </p:cNvPicPr>
          <p:nvPr/>
        </p:nvPicPr>
        <p:blipFill>
          <a:blip r:embed="rId1"/>
          <a:stretch>
            <a:fillRect/>
          </a:stretch>
        </p:blipFill>
        <p:spPr>
          <a:xfrm>
            <a:off x="457200" y="858260"/>
            <a:ext cx="4572000" cy="3541281"/>
          </a:xfrm>
          <a:prstGeom prst="rect">
            <a:avLst/>
          </a:prstGeom>
        </p:spPr>
      </p:pic>
      <p:sp>
        <p:nvSpPr>
          <p:cNvPr id="4" name="Text 1"/>
          <p:cNvSpPr txBox="1"/>
          <p:nvPr/>
        </p:nvSpPr>
        <p:spPr>
          <a:xfrm>
            <a:off x="5303520" y="858260"/>
            <a:ext cx="3383280" cy="265176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Hart's height-range regression at every grid point</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500 km window, standard levels, surface pressure for terrain</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Closed-low detector: only real lows get a class</a:t>
            </a:r>
            <a:endParaRPr lang="en-US" sz="1600" dirty="0"/>
          </a:p>
          <a:p>
            <a:pPr algn="l" marL="342900" indent="-342900">
              <a:buSzPct val="100000"/>
              <a:buChar char="•"/>
            </a:pPr>
            <a:r>
              <a:rPr lang="en-US" sz="1600" dirty="0">
                <a:solidFill>
                  <a:srgbClr val="0B0B0B"/>
                </a:solidFill>
                <a:latin typeface="Calibri" pitchFamily="34" charset="0"/>
                <a:ea typeface="Calibri" pitchFamily="34" charset="-122"/>
                <a:cs typeface="Calibri" pitchFamily="34" charset="-120"/>
              </a:rPr>
              <a:t>Every model in D2D, no tracker, no advisory</a:t>
            </a:r>
            <a:endParaRPr lang="en-US" sz="1600" dirty="0"/>
          </a:p>
        </p:txBody>
      </p:sp>
      <p:sp>
        <p:nvSpPr>
          <p:cNvPr id="5" name="Text 2"/>
          <p:cNvSpPr txBox="1"/>
          <p:nvPr/>
        </p:nvSpPr>
        <p:spPr>
          <a:xfrm>
            <a:off x="5303520" y="3647180"/>
            <a:ext cx="3383280" cy="6400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Synthetic demonstration: a warm-core vortex, a tilted cold-core low, and a terrain block.</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Why not the vorticity shortcut</a:t>
            </a:r>
            <a:endParaRPr lang="en-US" sz="3600" dirty="0"/>
          </a:p>
        </p:txBody>
      </p:sp>
      <p:pic>
        <p:nvPicPr>
          <p:cNvPr id="3" name="Image 0" descr="/home/user/awips-tools/docs/cps/figures/fig4_tilt.png">    </p:cNvPr>
          <p:cNvPicPr>
            <a:picLocks noChangeAspect="1"/>
          </p:cNvPicPr>
          <p:nvPr/>
        </p:nvPicPr>
        <p:blipFill>
          <a:blip r:embed="rId1"/>
          <a:stretch>
            <a:fillRect/>
          </a:stretch>
        </p:blipFill>
        <p:spPr>
          <a:xfrm>
            <a:off x="5553670" y="891540"/>
            <a:ext cx="3133130" cy="3474720"/>
          </a:xfrm>
          <a:prstGeom prst="rect">
            <a:avLst/>
          </a:prstGeom>
        </p:spPr>
      </p:pic>
      <p:sp>
        <p:nvSpPr>
          <p:cNvPr id="4" name="Text 1"/>
          <p:cNvSpPr txBox="1"/>
          <p:nvPr/>
        </p:nvSpPr>
        <p:spPr>
          <a:xfrm>
            <a:off x="457200" y="891540"/>
            <a:ext cx="4822150" cy="100584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A tilted low puts its upper trough west of the surface center. Vorticity differencing reads near zero or warm at the center and shows the cold signal as a dipole to the west.</a:t>
            </a:r>
            <a:endParaRPr lang="en-US" sz="1600" dirty="0"/>
          </a:p>
        </p:txBody>
      </p:sp>
      <p:sp>
        <p:nvSpPr>
          <p:cNvPr id="5" name="Text 2"/>
          <p:cNvSpPr txBox="1"/>
          <p:nvPr/>
        </p:nvSpPr>
        <p:spPr>
          <a:xfrm>
            <a:off x="457200" y="2034540"/>
            <a:ext cx="4822150" cy="64008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Hart's 500 km window spans the tilt and reads cold at the center.</a:t>
            </a:r>
            <a:endParaRPr lang="en-US" sz="1600" dirty="0"/>
          </a:p>
        </p:txBody>
      </p:sp>
      <p:sp>
        <p:nvSpPr>
          <p:cNvPr id="6" name="Shape 3"/>
          <p:cNvSpPr/>
          <p:nvPr/>
        </p:nvSpPr>
        <p:spPr>
          <a:xfrm>
            <a:off x="457200" y="2857500"/>
            <a:ext cx="2273915" cy="1005840"/>
          </a:xfrm>
          <a:prstGeom prst="roundRect">
            <a:avLst>
              <a:gd name="adj" fmla="val 7273"/>
            </a:avLst>
          </a:prstGeom>
          <a:solidFill>
            <a:srgbClr val="F0EFEC"/>
          </a:solidFill>
          <a:ln/>
        </p:spPr>
      </p:sp>
      <p:sp>
        <p:nvSpPr>
          <p:cNvPr id="7" name="Text 4"/>
          <p:cNvSpPr txBox="1"/>
          <p:nvPr/>
        </p:nvSpPr>
        <p:spPr>
          <a:xfrm>
            <a:off x="594360" y="2857500"/>
            <a:ext cx="1999595"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Vorticity proxy at center: about 0</a:t>
            </a:r>
            <a:endParaRPr lang="en-US" sz="1400" dirty="0"/>
          </a:p>
        </p:txBody>
      </p:sp>
      <p:sp>
        <p:nvSpPr>
          <p:cNvPr id="8" name="Shape 5"/>
          <p:cNvSpPr/>
          <p:nvPr/>
        </p:nvSpPr>
        <p:spPr>
          <a:xfrm>
            <a:off x="3005435" y="2857500"/>
            <a:ext cx="2273915" cy="1005840"/>
          </a:xfrm>
          <a:prstGeom prst="roundRect">
            <a:avLst>
              <a:gd name="adj" fmla="val 7273"/>
            </a:avLst>
          </a:prstGeom>
          <a:solidFill>
            <a:srgbClr val="F0EFEC"/>
          </a:solidFill>
          <a:ln/>
        </p:spPr>
      </p:sp>
      <p:sp>
        <p:nvSpPr>
          <p:cNvPr id="9" name="Text 6"/>
          <p:cNvSpPr txBox="1"/>
          <p:nvPr/>
        </p:nvSpPr>
        <p:spPr>
          <a:xfrm>
            <a:off x="3142595" y="2857500"/>
            <a:ext cx="1999595"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Hart field at center: </a:t>
            </a:r>
            <a:pPr algn="l" indent="0" marL="0">
              <a:buNone/>
            </a:pPr>
            <a:r>
              <a:rPr lang="en-US" sz="1400" b="1" dirty="0">
                <a:solidFill>
                  <a:srgbClr val="2A78D6"/>
                </a:solidFill>
                <a:latin typeface="Calibri" pitchFamily="34" charset="0"/>
                <a:ea typeface="Calibri" pitchFamily="34" charset="-122"/>
                <a:cs typeface="Calibri" pitchFamily="34" charset="-120"/>
              </a:rPr>
              <a:t>minus 285 m</a:t>
            </a:r>
            <a:endParaRPr lang="en-US" sz="1400" dirty="0"/>
          </a:p>
        </p:txBody>
      </p:sp>
      <p:sp>
        <p:nvSpPr>
          <p:cNvPr id="10" name="Text 7"/>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1" name="Text 8"/>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2066544" y="777240"/>
            <a:ext cx="5010912" cy="2900065"/>
          </a:xfrm>
          <a:prstGeom prst="rect">
            <a:avLst/>
          </a:prstGeom>
        </p:spPr>
      </p:pic>
      <p:sp>
        <p:nvSpPr>
          <p:cNvPr id="4" name="Text 1"/>
          <p:cNvSpPr txBox="1"/>
          <p:nvPr/>
        </p:nvSpPr>
        <p:spPr>
          <a:xfrm>
            <a:off x="457200" y="3749040"/>
            <a:ext cx="8229600" cy="22860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lower term, upper term, class, index. Photograph of the live display.</a:t>
            </a:r>
            <a:endParaRPr lang="en-US" sz="1100" dirty="0"/>
          </a:p>
        </p:txBody>
      </p:sp>
      <p:sp>
        <p:nvSpPr>
          <p:cNvPr id="5" name="Text 2"/>
          <p:cNvSpPr txBox="1"/>
          <p:nvPr/>
        </p:nvSpPr>
        <p:spPr>
          <a:xfrm>
            <a:off x="457200" y="4023360"/>
            <a:ext cx="8229600" cy="45720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Read the class at the center: 4 deep warm, 3 shallow warm, 1 cold, blank means no closed low. Compare models on the hour the class leaves 4.</a:t>
            </a:r>
            <a:endParaRPr lang="en-US" sz="16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class 4</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18Z 21 Sep</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4 at the same hour FSU shows deep to shallow warm core</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Class 1</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1.5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frame, full 0.25 degree global grid</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434840"/>
            <a:ext cx="8229600" cy="548640"/>
          </a:xfrm>
          <a:prstGeom prst="rect">
            <a:avLst/>
          </a:prstGeom>
          <a:noFill/>
          <a:ln/>
        </p:spPr>
        <p:txBody>
          <a:bodyPr wrap="square" lIns="0" tIns="0" rIns="0" bIns="0" rtlCol="0" anchor="t"/>
          <a:lstStyle/>
          <a:p>
            <a:pPr algn="l" indent="0" marL="0">
              <a:buNone/>
            </a:pPr>
            <a:r>
              <a:rPr lang="en-US" sz="1500" dirty="0">
                <a:solidFill>
                  <a:srgbClr val="CADCFC"/>
                </a:solidFill>
                <a:latin typeface="Calibri" pitchFamily="34" charset="0"/>
                <a:ea typeface="Calibri" pitchFamily="34" charset="-122"/>
                <a:cs typeface="Calibri" pitchFamily="34" charset="-120"/>
              </a:rPr>
              <a:t>github.com/jkrek17/awips-tools, directory D2D</a:t>
            </a:r>
            <a:endParaRPr lang="en-US" sz="1500" dirty="0"/>
          </a:p>
          <a:p>
            <a:pPr algn="l" indent="0" marL="0">
              <a:buNone/>
            </a:pPr>
            <a:r>
              <a:rPr lang="en-US" sz="1500" dirty="0">
                <a:solidFill>
                  <a:srgbClr val="CADCFC"/>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2026-09-18T13:36:17Z</dcterms:created>
  <dcterms:modified xsi:type="dcterms:W3CDTF">2026-09-18T13:36:17Z</dcterms:modified>
</cp:coreProperties>
</file>