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actually measure. Take a cross-section through a storm. The height of a pressure surface dips over the low. In a warm-core storm, a hurricane, the column is warm, so it is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he looks at how that range changes with height. Shrinking upward is warm core, positive. Growing upward is cold core, negative. He does it twice, once for the lower troposphere and once for the upper, and that split is what lets you tell a hurricane, warm all the way up, from a subtropical storm or a warm seclusion, which is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is a measure of the mean temperature of the layer. Draw the 500 kilometer circle around the storm, split it into left and right of the direction of motion, and subtract the mean thickness of the two halves.
For a hurricane the thickness contours close around the storm, both halves are the same, and B is near zero. For a storm that has moved into a front, warm air sits on one flank and cold air on the other, and B is large. Hart's threshold is 10 meters. Evans and Hart use the hour B first exceeds it as the objective onset of extratropical transition, and the hour the lower thermal wind turns negative as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then loses the upper warm core, then the lower one, and ends in the cold corner. Some storms then hook back toward shallow warm core: that is a warm seclusion re-forming a warm core at the surface, and those are the ones that deepen unexpectedly over cold water. The operational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only operational access was FSU's web page: static plots, computed externally, for tracked tropical cyclones only. The hybrid, post-tropical, and non-tropical systems that OPC actually warns on aren't on it.
We reformulated the parameters as gridded fields and implemented them as AWIPS derived parameters. At every grid point the code evaluates the height range inside a 500 kilometer window at each level and regresses it against log pressure. That is Hart's exact quantity, everywhere instead of at one tracked center. It needs only geopotential height on standard levels, surface pressure, and winds for the motion in B, so it works on every model in D2D with no tracker and no advisory. A closed-low detector on the 1000 hPa height blanks everything that isn't a real low,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well to the west of its surface center, tilted the way many real baroclinic lows are. One panel shows that geometry: the 925 and 300 hectopascal height contours, offset from each other by the tilt. The other three are what the AWIPS field actually plots for that storm: the lower and upper thermal wind terms, and the joint class. Hart's 500 kilometer window is wide enough to take in the tilted upper trough from the surface center, so both terms read strongly cold there and the class comes out cold core, right where the surface low actually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panels: the lower and upper terms, a joint class field, and an index. The class reads at the storm's center, one number for one of Hart's seven named states: symmetric or frontal, deep or shallow warm core, cold core, or a rare mid-level vortex. Step through the frames on a transitioning storm and the class climbs 0, then 2, then 3, then 4; a warm seclusion runs 4 and back to 1. Load a second model beside it and compare the hour each first reaches 2 or 3, and the hour each first reaches 4 or 5; where they disagree is your transition uncertainty. That is a product nobody had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 typhoon at 984 millibars read 120 and 180 meters, a deep warm core, class 0 or 2 in the joint field depending on B, comparable to what Hart published for hurricanes. For Typhoon Dujuan, the hour the storm's classification left its deep warm core state matched the hour FSU's page showed the same GFS run moving from deep to shallow warm core. And a deep North Atlantic low classified cold core. Greenland and the Rockies come out blank rather than contaminated. Compute cost is about a second per frame on the full global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251960"/>
            <a:ext cx="3931920" cy="365760"/>
          </a:xfrm>
          <a:prstGeom prst="rect">
            <a:avLst/>
          </a:prstGeom>
          <a:noFill/>
          <a:ln/>
        </p:spPr>
        <p:txBody>
          <a:bodyPr wrap="square" lIns="0" tIns="0" rIns="0" bIns="0" rtlCol="0" anchor="t"/>
          <a:lstStyle/>
          <a:p>
            <a:pPr algn="l" indent="0" marL="0">
              <a:buNone/>
            </a:pPr>
            <a:r>
              <a:rPr lang="en-US" sz="1400" dirty="0">
                <a:solidFill>
                  <a:srgbClr val="CADCFC"/>
                </a:solidFill>
                <a:latin typeface="Calibri" pitchFamily="34" charset="0"/>
                <a:ea typeface="Calibri" pitchFamily="34" charset="-122"/>
                <a:cs typeface="Calibri" pitchFamily="34" charset="-120"/>
              </a:rPr>
              <a:t>[Author], 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846320" y="1460411"/>
            <a:ext cx="3840480" cy="22226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home/user/awips-tools/docs/cps/figures/fig10_two_diagrams.png">    </p:cNvPr>
          <p:cNvPicPr>
            <a:picLocks noChangeAspect="1"/>
          </p:cNvPicPr>
          <p:nvPr/>
        </p:nvPicPr>
        <p:blipFill>
          <a:blip r:embed="rId1"/>
          <a:stretch>
            <a:fillRect/>
          </a:stretch>
        </p:blipFill>
        <p:spPr>
          <a:xfrm>
            <a:off x="3931920" y="1418754"/>
            <a:ext cx="4754880" cy="2420292"/>
          </a:xfrm>
          <a:prstGeom prst="rect">
            <a:avLst/>
          </a:prstGeom>
        </p:spPr>
      </p:pic>
      <p:sp>
        <p:nvSpPr>
          <p:cNvPr id="4" name="Text 1"/>
          <p:cNvSpPr txBox="1"/>
          <p:nvPr/>
        </p:nvSpPr>
        <p:spPr>
          <a:xfrm>
            <a:off x="457200" y="1418754"/>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406005"/>
            <a:ext cx="5120640" cy="2445789"/>
          </a:xfrm>
          <a:prstGeom prst="rect">
            <a:avLst/>
          </a:prstGeom>
        </p:spPr>
      </p:pic>
      <p:sp>
        <p:nvSpPr>
          <p:cNvPr id="4" name="Text 1"/>
          <p:cNvSpPr txBox="1"/>
          <p:nvPr/>
        </p:nvSpPr>
        <p:spPr>
          <a:xfrm>
            <a:off x="5852160" y="914400"/>
            <a:ext cx="2834640" cy="2468880"/>
          </a:xfrm>
          <a:prstGeom prst="rect">
            <a:avLst/>
          </a:prstGeom>
          <a:noFill/>
          <a:ln/>
        </p:spPr>
        <p:txBody>
          <a:bodyPr wrap="square" lIns="0" tIns="0" rIns="0" bIns="0" rtlCol="0" anchor="t"/>
          <a:lstStyle/>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Thickness is the layer's mean temperature</a:t>
            </a:r>
            <a:endParaRPr lang="en-US" sz="1500" dirty="0"/>
          </a:p>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Split the 500 km circle left and right of the motion, subtract</a:t>
            </a:r>
            <a:endParaRPr lang="en-US" sz="1500" dirty="0"/>
          </a:p>
          <a:p>
            <a:pPr algn="l" marL="342900" indent="-342900">
              <a:buSzPct val="100000"/>
              <a:buChar char="•"/>
            </a:pPr>
            <a:r>
              <a:rPr lang="en-US" sz="1500" dirty="0">
                <a:solidFill>
                  <a:srgbClr val="0B0B0B"/>
                </a:solidFill>
                <a:latin typeface="Calibri" pitchFamily="34" charset="0"/>
                <a:ea typeface="Calibri" pitchFamily="34" charset="-122"/>
                <a:cs typeface="Calibri" pitchFamily="34" charset="-120"/>
              </a:rPr>
              <a:t>Symmetric storm: B near 0. Storm in a front: B large. Threshold 10 m</a:t>
            </a:r>
            <a:endParaRPr lang="en-US" sz="1500" dirty="0"/>
          </a:p>
        </p:txBody>
      </p:sp>
      <p:sp>
        <p:nvSpPr>
          <p:cNvPr id="5" name="Text 2"/>
          <p:cNvSpPr txBox="1"/>
          <p:nvPr/>
        </p:nvSpPr>
        <p:spPr>
          <a:xfrm>
            <a:off x="5852160" y="3520440"/>
            <a:ext cx="2834640" cy="91440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Evans and Hart (2003): onset when B passes 10 m, completion when the lower term turns negative.</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home/user/awips-tools/docs/cps/figures/fig3_gridded.png">    </p:cNvPr>
          <p:cNvPicPr>
            <a:picLocks noChangeAspect="1"/>
          </p:cNvPicPr>
          <p:nvPr/>
        </p:nvPicPr>
        <p:blipFill>
          <a:blip r:embed="rId1"/>
          <a:stretch>
            <a:fillRect/>
          </a:stretch>
        </p:blipFill>
        <p:spPr>
          <a:xfrm>
            <a:off x="457200" y="879280"/>
            <a:ext cx="4572000" cy="3499240"/>
          </a:xfrm>
          <a:prstGeom prst="rect">
            <a:avLst/>
          </a:prstGeom>
        </p:spPr>
      </p:pic>
      <p:sp>
        <p:nvSpPr>
          <p:cNvPr id="4" name="Text 1"/>
          <p:cNvSpPr txBox="1"/>
          <p:nvPr/>
        </p:nvSpPr>
        <p:spPr>
          <a:xfrm>
            <a:off x="5303520" y="879280"/>
            <a:ext cx="3383280" cy="26517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Hart's height-range regression at every grid point</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500 km window, standard levels, surface pressure for terrain</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Closed-low detector: only real lows get a class</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Every model in D2D, no tracker, no advisory</a:t>
            </a:r>
            <a:endParaRPr lang="en-US" sz="1600" dirty="0"/>
          </a:p>
        </p:txBody>
      </p:sp>
      <p:sp>
        <p:nvSpPr>
          <p:cNvPr id="5" name="Text 2"/>
          <p:cNvSpPr txBox="1"/>
          <p:nvPr/>
        </p:nvSpPr>
        <p:spPr>
          <a:xfrm>
            <a:off x="5303520" y="3622480"/>
            <a:ext cx="3383280" cy="77724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Synthetic demonstration: a warm-core vortex, a tilted cold-core low, a terrain block, and the joint class in panel (d).</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home/user/awips-tools/docs/cps/figures/fig4_tilt.png">    </p:cNvPr>
          <p:cNvPicPr>
            <a:picLocks noChangeAspect="1"/>
          </p:cNvPicPr>
          <p:nvPr/>
        </p:nvPicPr>
        <p:blipFill>
          <a:blip r:embed="rId1"/>
          <a:stretch>
            <a:fillRect/>
          </a:stretch>
        </p:blipFill>
        <p:spPr>
          <a:xfrm>
            <a:off x="5553670" y="891540"/>
            <a:ext cx="3133130" cy="3474720"/>
          </a:xfrm>
          <a:prstGeom prst="rect">
            <a:avLst/>
          </a:prstGeom>
        </p:spPr>
      </p:pic>
      <p:sp>
        <p:nvSpPr>
          <p:cNvPr id="4" name="Text 1"/>
          <p:cNvSpPr txBox="1"/>
          <p:nvPr/>
        </p:nvSpPr>
        <p:spPr>
          <a:xfrm>
            <a:off x="457200" y="891540"/>
            <a:ext cx="4822150" cy="12801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Synthetic cold-core low with its upper trough displaced west of the surface center: tilt geometry (925 and 300 hPa height), then HVTL, HVTU, and the joint class.</a:t>
            </a:r>
            <a:endParaRPr lang="en-US" sz="1600" dirty="0"/>
          </a:p>
        </p:txBody>
      </p:sp>
      <p:sp>
        <p:nvSpPr>
          <p:cNvPr id="5" name="Text 2"/>
          <p:cNvSpPr txBox="1"/>
          <p:nvPr/>
        </p:nvSpPr>
        <p:spPr>
          <a:xfrm>
            <a:off x="457200" y="2308860"/>
            <a:ext cx="4822150" cy="8229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Hart's 500 km window spans the tilt, so both thermal wind terms read cold at the surface center.</a:t>
            </a:r>
            <a:endParaRPr lang="en-US" sz="1600" dirty="0"/>
          </a:p>
        </p:txBody>
      </p:sp>
      <p:sp>
        <p:nvSpPr>
          <p:cNvPr id="6" name="Shape 3"/>
          <p:cNvSpPr/>
          <p:nvPr/>
        </p:nvSpPr>
        <p:spPr>
          <a:xfrm>
            <a:off x="457200" y="3314700"/>
            <a:ext cx="4822150" cy="1005840"/>
          </a:xfrm>
          <a:prstGeom prst="roundRect">
            <a:avLst>
              <a:gd name="adj" fmla="val 7273"/>
            </a:avLst>
          </a:prstGeom>
          <a:solidFill>
            <a:srgbClr val="F0EFEC"/>
          </a:solidFill>
          <a:ln/>
        </p:spPr>
      </p:sp>
      <p:sp>
        <p:nvSpPr>
          <p:cNvPr id="7" name="Text 4"/>
          <p:cNvSpPr txBox="1"/>
          <p:nvPr/>
        </p:nvSpPr>
        <p:spPr>
          <a:xfrm>
            <a:off x="594360" y="3314700"/>
            <a:ext cx="4547830"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Class at center: </a:t>
            </a:r>
            <a:pPr algn="l" indent="0" marL="0">
              <a:buNone/>
            </a:pPr>
            <a:r>
              <a:rPr lang="en-US" sz="1400" b="1" dirty="0">
                <a:solidFill>
                  <a:srgbClr val="2A78D6"/>
                </a:solidFill>
                <a:latin typeface="Calibri" pitchFamily="34" charset="0"/>
                <a:ea typeface="Calibri" pitchFamily="34" charset="-122"/>
                <a:cs typeface="Calibri" pitchFamily="34" charset="-120"/>
              </a:rPr>
              <a:t>cold core</a:t>
            </a:r>
            <a:pPr algn="l" indent="0" marL="0">
              <a:buNone/>
            </a:pPr>
            <a:r>
              <a:rPr lang="en-US" sz="1400" dirty="0">
                <a:solidFill>
                  <a:srgbClr val="0B0B0B"/>
                </a:solidFill>
                <a:latin typeface="Calibri" pitchFamily="34" charset="0"/>
                <a:ea typeface="Calibri" pitchFamily="34" charset="-122"/>
                <a:cs typeface="Calibri" pitchFamily="34" charset="-120"/>
              </a:rPr>
              <a:t>, not warm</a:t>
            </a:r>
            <a:endParaRPr lang="en-US" sz="1400" dirty="0"/>
          </a:p>
        </p:txBody>
      </p:sp>
      <p:sp>
        <p:nvSpPr>
          <p:cNvPr id="8" name="Text 5"/>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6"/>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2066544" y="777240"/>
            <a:ext cx="5010912" cy="2900065"/>
          </a:xfrm>
          <a:prstGeom prst="rect">
            <a:avLst/>
          </a:prstGeom>
        </p:spPr>
      </p:pic>
      <p:sp>
        <p:nvSpPr>
          <p:cNvPr id="4" name="Text 1"/>
          <p:cNvSpPr txBox="1"/>
          <p:nvPr/>
        </p:nvSpPr>
        <p:spPr>
          <a:xfrm>
            <a:off x="457200" y="3749040"/>
            <a:ext cx="8229600" cy="22860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lower term, upper term, class, index. Photograph of the live display.</a:t>
            </a:r>
            <a:endParaRPr lang="en-US" sz="1100" dirty="0"/>
          </a:p>
        </p:txBody>
      </p:sp>
      <p:sp>
        <p:nvSpPr>
          <p:cNvPr id="5" name="Text 2"/>
          <p:cNvSpPr txBox="1"/>
          <p:nvPr/>
        </p:nvSpPr>
        <p:spPr>
          <a:xfrm>
            <a:off x="457200" y="4005072"/>
            <a:ext cx="8229600" cy="4572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and 3 transition under way, 4 and 5 cold core, 1 after a warm seclusion. Compare models on the hour the class first reaches 2, and the hour it first reaches 4.</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18Z 21 Sep</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4 at the same hour FSU shows deep to shallow warm core</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1.5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frame, full 0.25 degree global grid</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434840"/>
            <a:ext cx="8229600" cy="548640"/>
          </a:xfrm>
          <a:prstGeom prst="rect">
            <a:avLst/>
          </a:prstGeom>
          <a:noFill/>
          <a:ln/>
        </p:spPr>
        <p:txBody>
          <a:bodyPr wrap="square" lIns="0" tIns="0" rIns="0" bIns="0" rtlCol="0" anchor="t"/>
          <a:lstStyle/>
          <a:p>
            <a:pPr algn="l" indent="0" marL="0">
              <a:buNone/>
            </a:pPr>
            <a:r>
              <a:rPr lang="en-US" sz="1500" dirty="0">
                <a:solidFill>
                  <a:srgbClr val="CADCFC"/>
                </a:solidFill>
                <a:latin typeface="Calibri" pitchFamily="34" charset="0"/>
                <a:ea typeface="Calibri" pitchFamily="34" charset="-122"/>
                <a:cs typeface="Calibri" pitchFamily="34" charset="-120"/>
              </a:rPr>
              <a:t>github.com/jkrek17/awips-tools, directory D2D</a:t>
            </a:r>
            <a:endParaRPr lang="en-US" sz="1500" dirty="0"/>
          </a:p>
          <a:p>
            <a:pPr algn="l" indent="0" marL="0">
              <a:buNone/>
            </a:pPr>
            <a:r>
              <a:rPr lang="en-US" sz="1500" dirty="0">
                <a:solidFill>
                  <a:srgbClr val="CADCFC"/>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2026-09-18T18:08:03Z</dcterms:created>
  <dcterms:modified xsi:type="dcterms:W3CDTF">2026-09-18T18:08:03Z</dcterms:modified>
</cp:coreProperties>
</file>