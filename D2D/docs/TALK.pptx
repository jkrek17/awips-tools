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frontal.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measure. Take a cross-section through a storm: the height of a pressure surface dips over the low. In a warm-core storm, a hurricane, the column is warm and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how that range changes with height. Shrinking upward is warm core, positive; growing upward is cold core, negative. He does it twice, lower and upper troposphere, and that split tells a hurricane, warm all the way up, from a subtropical storm or warm seclusion,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measures a layer's mean temperature. The motion here is the deep-layer mean wind, averaged over that same 500 kilometer window: inside a symmetric vortex the storm's own circulation cancels out, leaving the environmental flow, with a floor of 2 meters per second. Split the circle left and right of that flow and subtract the mean thickness of the two halves.
For a hurricane both halves are the same and B is near zero. For a storm that has moved into a front, warm air sits on one flank and cold on the other, and B is large. Hart's threshold is 10 meters. Onset is read as the frame HB crosses 10 meters, completion as the frame HVTL crosses zero, from animating those two fields; HCPSclass is just the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frontal, warm or cold. On the right, lower against upper thermal wind: deep warm, shallow warm, or cold. A hurricane starts in the deep warm corner; during transition it crosses the B line first, loses the upper warm core, then the lower one, and ends in the cold corner. Some storms hook back toward shallow warm core: a warm seclusion re-forming a warm core at the surface, the ones that deepen unexpectedly over cold water. The product we built turns all three numbers into one, so a forecaster reads a single class instead of two diagrams.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operational access was the FSU cyclone phase page: storm-centered diagrams for tracker-identified cyclones, in a fixed set of models, outside the workstation. What OPC needs is the same diagnostic inside D2D, on every model we run, for any low we point at.
We reformulated the parameters as gridded fields and implemented them as AWIPS derived parameters. At every grid point the code evaluates the height range inside a 500 kilometer window at each level and regresses it against log pressure: Hart's own definition, evaluated everywhere instead of at one tracked center. The square window and standard levels keep the magnitudes close to his, not identical. It needs geopotential height on standard levels and surface pressure; the frontal term also needs winds at four levels. That runs on any model in D2D carrying those fields, with no tracker and no advisory. A closed-low detector on the 1000 hPa height keeps the class off open ocean and open troughs in the cases we've tested,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why measuring the height field directly matters, on a synthetic case. Build a cold-core cyclone whose upper trough sits 393 kilometers west of its surface center, tilted the way many real baroclinic lows are, under a uniform 8 meter per second westerly steering flow. One panel shows that geometry: the 925 and 300 hectopascal height contours, offset by the tilt. The others show the upper thermal wind term and the joint class. Hart's 500 kilometer window is wide enough to take in the tilted upper trough from the surface center, so both thermal wind terms read strongly cold there, HVTL minus 285 meters and HVTU minus 284, and the class comes out 5, symmetric cold core, right where the surface low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fields, HVTL, HVTU, the joint class, and the index. The photograph shows the two thermal wind panels, HVTL and HVTU, on a typhoon forecast. The class reads at the storm's center, one number for one of seven classes built from Hart's two diagrams: symmetric or frontal, deep or shallow warm core, cold core, or shallow cold core, lower cold and upper warm, a rare state. Step through the frames on a transitioning storm and the class climbs 0, then 2, then 3, then 4; a warm seclusion runs it from 4 to 3, or to 1 if B falls too. Load a second model beside it and compare the hour each HB crosses 10 meters and each HVTL crosses zero; where they disagree is your transition uncertainty. That's not something we've had inside our own workstation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so far, all GFS cases from one model cycle: a smoke test, not a calibration. A typhoon at 984 millibars read 120 and 180 meters, a deep warm core; our bands differ from Hart's, so we don't compare that magnitude to his published values. For Typhoon Dujuan, the 2026 September 17, 1200 UTC GFS run valid 21 September 1800 UTC: the hour the class left its deep warm core state matched the hour FSU's page showed deep to shallow warm core, within one 6 hour frame. A deep North Atlantic low in the same cycle classified cold core; its values weren't recorded, so that case needs re-sampling. Greenland and the Rockies come out blank rather than contaminated. Compute cost is about 2.6 seconds per forecast hour on the full global grid, the median of four runs, ranging 2.4 to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window is a square, which carries a small cold bias on a strong gradient. B and the transition-onset field are implemented but not yet validated. And it's three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160520"/>
            <a:ext cx="4206240" cy="640080"/>
          </a:xfrm>
          <a:prstGeom prst="rect">
            <a:avLst/>
          </a:prstGeom>
          <a:noFill/>
          <a:ln/>
        </p:spPr>
        <p:txBody>
          <a:bodyPr wrap="square" lIns="0" tIns="0" rIns="0" bIns="0" rtlCol="0" anchor="t"/>
          <a:lstStyle/>
          <a:p>
            <a:pPr algn="l" indent="0" marL="0">
              <a:spcAft>
                <a:spcPts val="200"/>
              </a:spcAft>
              <a:buNone/>
            </a:pPr>
            <a:r>
              <a:rPr lang="en-US" sz="1400" dirty="0">
                <a:solidFill>
                  <a:srgbClr val="CADCFC"/>
                </a:solidFill>
                <a:latin typeface="Calibri" pitchFamily="34" charset="0"/>
                <a:ea typeface="Calibri" pitchFamily="34" charset="-122"/>
                <a:cs typeface="Calibri" pitchFamily="34" charset="-120"/>
              </a:rPr>
              <a:t>Jason Krekeler</a:t>
            </a:r>
            <a:endParaRPr lang="en-US" sz="1400" dirty="0"/>
          </a:p>
          <a:p>
            <a:pPr algn="l" indent="0" marL="0">
              <a:buNone/>
            </a:pPr>
            <a:r>
              <a:rPr lang="en-US" sz="1400" dirty="0">
                <a:solidFill>
                  <a:srgbClr val="CADCFC"/>
                </a:solidFill>
                <a:latin typeface="Calibri" pitchFamily="34" charset="0"/>
                <a:ea typeface="Calibri" pitchFamily="34" charset="-122"/>
                <a:cs typeface="Calibri" pitchFamily="34" charset="-120"/>
              </a:rPr>
              <a:t>NOAA/NWS Ocean Prediction Center, September 2026</a:t>
            </a:r>
            <a:endParaRPr lang="en-US" sz="1400" dirty="0"/>
          </a:p>
        </p:txBody>
      </p:sp>
      <p:pic>
        <p:nvPicPr>
          <p:cNvPr id="5" name="Image 0" descr="/home/user/awips-tools/docs/cps/figures/fig6_cave_typhoon.jpg">    </p:cNvPr>
          <p:cNvPicPr>
            <a:picLocks noChangeAspect="1"/>
          </p:cNvPicPr>
          <p:nvPr/>
        </p:nvPicPr>
        <p:blipFill>
          <a:blip r:embed="rId1"/>
          <a:stretch>
            <a:fillRect/>
          </a:stretch>
        </p:blipFill>
        <p:spPr>
          <a:xfrm>
            <a:off x="4663440" y="1953958"/>
            <a:ext cx="4206240" cy="12355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tmp/claude-0/-home-user-awips-tools/3a4711f2-52b1-52e4-8d45-df8bae2bffec/scratchpad/crops/fig10_panel_b.png">    </p:cNvPr>
          <p:cNvPicPr>
            <a:picLocks noChangeAspect="1"/>
          </p:cNvPicPr>
          <p:nvPr/>
        </p:nvPicPr>
        <p:blipFill>
          <a:blip r:embed="rId1"/>
          <a:stretch>
            <a:fillRect/>
          </a:stretch>
        </p:blipFill>
        <p:spPr>
          <a:xfrm>
            <a:off x="4846320" y="845820"/>
            <a:ext cx="3566160" cy="3566160"/>
          </a:xfrm>
          <a:prstGeom prst="rect">
            <a:avLst/>
          </a:prstGeom>
        </p:spPr>
      </p:pic>
      <p:sp>
        <p:nvSpPr>
          <p:cNvPr id="4" name="Text 1"/>
          <p:cNvSpPr txBox="1"/>
          <p:nvPr/>
        </p:nvSpPr>
        <p:spPr>
          <a:xfrm>
            <a:off x="457200" y="845820"/>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frontal</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docs/cps/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docs/cps/figures/fig9_b_concept.png">    </p:cNvPr>
          <p:cNvPicPr>
            <a:picLocks noChangeAspect="1"/>
          </p:cNvPicPr>
          <p:nvPr/>
        </p:nvPicPr>
        <p:blipFill>
          <a:blip r:embed="rId1"/>
          <a:stretch>
            <a:fillRect/>
          </a:stretch>
        </p:blipFill>
        <p:spPr>
          <a:xfrm>
            <a:off x="457200" y="1624379"/>
            <a:ext cx="4206240" cy="2009041"/>
          </a:xfrm>
          <a:prstGeom prst="rect">
            <a:avLst/>
          </a:prstGeom>
        </p:spPr>
      </p:pic>
      <p:sp>
        <p:nvSpPr>
          <p:cNvPr id="4" name="Text 1"/>
          <p:cNvSpPr txBox="1"/>
          <p:nvPr/>
        </p:nvSpPr>
        <p:spPr>
          <a:xfrm>
            <a:off x="4937760" y="777240"/>
            <a:ext cx="3749040" cy="265176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Thickness measures a layer's mean temperature</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Motion: deep-layer mean wind averaged over the window (vortex's own circulation cancels; floor 2 m/s)</a:t>
            </a:r>
            <a:endParaRPr lang="en-US" sz="1300" dirty="0"/>
          </a:p>
          <a:p>
            <a:pPr algn="l" marL="342900" indent="-342900">
              <a:spcAft>
                <a:spcPts val="1000"/>
              </a:spcAft>
              <a:buSzPct val="100000"/>
              <a:buChar char="•"/>
            </a:pPr>
            <a:r>
              <a:rPr lang="en-US" sz="1300" dirty="0">
                <a:solidFill>
                  <a:srgbClr val="0B0B0B"/>
                </a:solidFill>
                <a:latin typeface="Calibri" pitchFamily="34" charset="0"/>
                <a:ea typeface="Calibri" pitchFamily="34" charset="-122"/>
                <a:cs typeface="Calibri" pitchFamily="34" charset="-120"/>
              </a:rPr>
              <a:t>Split left and right of that flow, subtract mean thickness</a:t>
            </a:r>
            <a:endParaRPr lang="en-US" sz="1300" dirty="0"/>
          </a:p>
          <a:p>
            <a:pPr algn="l" marL="342900" indent="-342900">
              <a:buSzPct val="100000"/>
              <a:buChar char="•"/>
            </a:pPr>
            <a:r>
              <a:rPr lang="en-US" sz="1300" dirty="0">
                <a:solidFill>
                  <a:srgbClr val="0B0B0B"/>
                </a:solidFill>
                <a:latin typeface="Calibri" pitchFamily="34" charset="0"/>
                <a:ea typeface="Calibri" pitchFamily="34" charset="-122"/>
                <a:cs typeface="Calibri" pitchFamily="34" charset="-120"/>
              </a:rPr>
              <a:t>B near 0 if symmetric; large in a front. Threshold 10 m</a:t>
            </a:r>
            <a:endParaRPr lang="en-US" sz="1300" dirty="0"/>
          </a:p>
        </p:txBody>
      </p:sp>
      <p:sp>
        <p:nvSpPr>
          <p:cNvPr id="5" name="Text 2"/>
          <p:cNvSpPr txBox="1"/>
          <p:nvPr/>
        </p:nvSpPr>
        <p:spPr>
          <a:xfrm>
            <a:off x="4937760" y="3703320"/>
            <a:ext cx="3749040" cy="86868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Onset: HB crosses 10 m. Completion: HVTL crosses zero. Watched by animating those two fields; HCPSclass is the summary.</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docs/cps/figures/fig10_two_diagrams.png">    </p:cNvPr>
          <p:cNvPicPr>
            <a:picLocks noChangeAspect="1"/>
          </p:cNvPicPr>
          <p:nvPr/>
        </p:nvPicPr>
        <p:blipFill>
          <a:blip r:embed="rId1"/>
          <a:stretch>
            <a:fillRect/>
          </a:stretch>
        </p:blipFill>
        <p:spPr>
          <a:xfrm>
            <a:off x="1234440" y="713232"/>
            <a:ext cx="6675120" cy="3397718"/>
          </a:xfrm>
          <a:prstGeom prst="rect">
            <a:avLst/>
          </a:prstGeom>
        </p:spPr>
      </p:pic>
      <p:sp>
        <p:nvSpPr>
          <p:cNvPr id="4" name="Text 1"/>
          <p:cNvSpPr txBox="1"/>
          <p:nvPr/>
        </p:nvSpPr>
        <p:spPr>
          <a:xfrm>
            <a:off x="457200" y="4165814"/>
            <a:ext cx="8229600" cy="32004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5" name="Text 2"/>
          <p:cNvSpPr txBox="1"/>
          <p:nvPr/>
        </p:nvSpPr>
        <p:spPr>
          <a:xfrm>
            <a:off x="457200" y="4553712"/>
            <a:ext cx="2743200" cy="182880"/>
          </a:xfrm>
          <a:prstGeom prst="rect">
            <a:avLst/>
          </a:prstGeom>
          <a:noFill/>
          <a:ln/>
        </p:spPr>
        <p:txBody>
          <a:bodyPr wrap="square" lIns="0" tIns="0" rIns="0" bIns="0" rtlCol="0" anchor="t"/>
          <a:lstStyle/>
          <a:p>
            <a:pPr algn="l" indent="0" marL="0">
              <a:buNone/>
            </a:pPr>
            <a:r>
              <a:rPr lang="en-US" sz="900" i="1" dirty="0">
                <a:solidFill>
                  <a:srgbClr val="52514E"/>
                </a:solidFill>
                <a:latin typeface="Calibri" pitchFamily="34" charset="0"/>
                <a:ea typeface="Calibri" pitchFamily="34" charset="-122"/>
                <a:cs typeface="Calibri" pitchFamily="34" charset="-120"/>
              </a:rPr>
              <a:t>Hart (2003)</a:t>
            </a:r>
            <a:endParaRPr lang="en-US" sz="9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tmp/claude-0/-home-user-awips-tools/3a4711f2-52b1-52e4-8d45-df8bae2bffec/scratchpad/crops/fig3_panel_b.png">    </p:cNvPr>
          <p:cNvPicPr>
            <a:picLocks noChangeAspect="1"/>
          </p:cNvPicPr>
          <p:nvPr/>
        </p:nvPicPr>
        <p:blipFill>
          <a:blip r:embed="rId1"/>
          <a:stretch>
            <a:fillRect/>
          </a:stretch>
        </p:blipFill>
        <p:spPr>
          <a:xfrm>
            <a:off x="674618" y="777240"/>
            <a:ext cx="3082915" cy="2743200"/>
          </a:xfrm>
          <a:prstGeom prst="rect">
            <a:avLst/>
          </a:prstGeom>
        </p:spPr>
      </p:pic>
      <p:pic>
        <p:nvPicPr>
          <p:cNvPr id="4" name="Image 1" descr="/tmp/claude-0/-home-user-awips-tools/3a4711f2-52b1-52e4-8d45-df8bae2bffec/scratchpad/crops/fig3_panel_d.png">    </p:cNvPr>
          <p:cNvPicPr>
            <a:picLocks noChangeAspect="1"/>
          </p:cNvPicPr>
          <p:nvPr/>
        </p:nvPicPr>
        <p:blipFill>
          <a:blip r:embed="rId2"/>
          <a:stretch>
            <a:fillRect/>
          </a:stretch>
        </p:blipFill>
        <p:spPr>
          <a:xfrm>
            <a:off x="4031853" y="777240"/>
            <a:ext cx="4437529" cy="2743200"/>
          </a:xfrm>
          <a:prstGeom prst="rect">
            <a:avLst/>
          </a:prstGeom>
        </p:spPr>
      </p:pic>
      <p:sp>
        <p:nvSpPr>
          <p:cNvPr id="5" name="Text 1"/>
          <p:cNvSpPr txBox="1"/>
          <p:nvPr/>
        </p:nvSpPr>
        <p:spPr>
          <a:xfrm>
            <a:off x="457200" y="3575304"/>
            <a:ext cx="8229600" cy="256032"/>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(b) HVTL, masked over the terrain block. (d) HCPSclass, the joint class field, at every grid point.</a:t>
            </a:r>
            <a:endParaRPr lang="en-US" sz="1200" dirty="0"/>
          </a:p>
        </p:txBody>
      </p:sp>
      <p:sp>
        <p:nvSpPr>
          <p:cNvPr id="6" name="Text 2"/>
          <p:cNvSpPr txBox="1"/>
          <p:nvPr/>
        </p:nvSpPr>
        <p:spPr>
          <a:xfrm>
            <a:off x="457200" y="3867912"/>
            <a:ext cx="8229600" cy="68580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500 km window, standard levels, surface pressure; four wind levels too for B. Closed-low detector keeps the class off open ocean and open troughs tested. Any model with those fields, no tracker, no advisory.</a:t>
            </a:r>
            <a:endParaRPr lang="en-US" sz="1300" dirty="0"/>
          </a:p>
        </p:txBody>
      </p:sp>
      <p:sp>
        <p:nvSpPr>
          <p:cNvPr id="7"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8"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A tilted cold core</a:t>
            </a:r>
            <a:endParaRPr lang="en-US" sz="3600" dirty="0"/>
          </a:p>
        </p:txBody>
      </p:sp>
      <p:pic>
        <p:nvPicPr>
          <p:cNvPr id="3" name="Image 0" descr="/tmp/claude-0/-home-user-awips-tools/3a4711f2-52b1-52e4-8d45-df8bae2bffec/scratchpad/crops/fig4_panel_a.png">    </p:cNvPr>
          <p:cNvPicPr>
            <a:picLocks noChangeAspect="1"/>
          </p:cNvPicPr>
          <p:nvPr/>
        </p:nvPicPr>
        <p:blipFill>
          <a:blip r:embed="rId1"/>
          <a:stretch>
            <a:fillRect/>
          </a:stretch>
        </p:blipFill>
        <p:spPr>
          <a:xfrm>
            <a:off x="1259277" y="777240"/>
            <a:ext cx="3175563" cy="2468880"/>
          </a:xfrm>
          <a:prstGeom prst="rect">
            <a:avLst/>
          </a:prstGeom>
        </p:spPr>
      </p:pic>
      <p:pic>
        <p:nvPicPr>
          <p:cNvPr id="4" name="Image 1" descr="/tmp/claude-0/-home-user-awips-tools/3a4711f2-52b1-52e4-8d45-df8bae2bffec/scratchpad/crops/fig4_panel_c.png">    </p:cNvPr>
          <p:cNvPicPr>
            <a:picLocks noChangeAspect="1"/>
          </p:cNvPicPr>
          <p:nvPr/>
        </p:nvPicPr>
        <p:blipFill>
          <a:blip r:embed="rId2"/>
          <a:stretch>
            <a:fillRect/>
          </a:stretch>
        </p:blipFill>
        <p:spPr>
          <a:xfrm>
            <a:off x="4709160" y="777240"/>
            <a:ext cx="3175563" cy="2468880"/>
          </a:xfrm>
          <a:prstGeom prst="rect">
            <a:avLst/>
          </a:prstGeom>
        </p:spPr>
      </p:pic>
      <p:sp>
        <p:nvSpPr>
          <p:cNvPr id="5" name="Text 1"/>
          <p:cNvSpPr txBox="1"/>
          <p:nvPr/>
        </p:nvSpPr>
        <p:spPr>
          <a:xfrm>
            <a:off x="457200" y="3300984"/>
            <a:ext cx="8229600" cy="502920"/>
          </a:xfrm>
          <a:prstGeom prst="rect">
            <a:avLst/>
          </a:prstGeom>
          <a:noFill/>
          <a:ln/>
        </p:spPr>
        <p:txBody>
          <a:bodyPr wrap="square" lIns="0" tIns="0" rIns="0" bIns="0" rtlCol="0" anchor="t"/>
          <a:lstStyle/>
          <a:p>
            <a:pPr algn="ctr" indent="0" marL="0">
              <a:buNone/>
            </a:pPr>
            <a:r>
              <a:rPr lang="en-US" sz="1300" dirty="0">
                <a:solidFill>
                  <a:srgbClr val="0B0B0B"/>
                </a:solidFill>
                <a:latin typeface="Calibri" pitchFamily="34" charset="0"/>
                <a:ea typeface="Calibri" pitchFamily="34" charset="-122"/>
                <a:cs typeface="Calibri" pitchFamily="34" charset="-120"/>
              </a:rPr>
              <a:t>(a) Tilt geometry: 300 hPa minimum 393 km west of center, 8 m/s westerly steering. (c) HVTU there: -284 m; HVTL also -285 m (not shown).</a:t>
            </a:r>
            <a:endParaRPr lang="en-US" sz="1300" dirty="0"/>
          </a:p>
        </p:txBody>
      </p:sp>
      <p:sp>
        <p:nvSpPr>
          <p:cNvPr id="6" name="Shape 2"/>
          <p:cNvSpPr/>
          <p:nvPr/>
        </p:nvSpPr>
        <p:spPr>
          <a:xfrm>
            <a:off x="2468880" y="3867912"/>
            <a:ext cx="4206240" cy="457200"/>
          </a:xfrm>
          <a:prstGeom prst="roundRect">
            <a:avLst>
              <a:gd name="adj" fmla="val 16000"/>
            </a:avLst>
          </a:prstGeom>
          <a:solidFill>
            <a:srgbClr val="F0EFEC"/>
          </a:solidFill>
          <a:ln/>
        </p:spPr>
      </p:sp>
      <p:sp>
        <p:nvSpPr>
          <p:cNvPr id="7" name="Text 3"/>
          <p:cNvSpPr txBox="1"/>
          <p:nvPr/>
        </p:nvSpPr>
        <p:spPr>
          <a:xfrm>
            <a:off x="2606040" y="3867912"/>
            <a:ext cx="3931920" cy="457200"/>
          </a:xfrm>
          <a:prstGeom prst="rect">
            <a:avLst/>
          </a:prstGeom>
          <a:noFill/>
          <a:ln/>
        </p:spPr>
        <p:txBody>
          <a:bodyPr wrap="square" lIns="0" tIns="0" rIns="0" bIns="0" rtlCol="0" anchor="ctr"/>
          <a:lstStyle/>
          <a:p>
            <a:pPr algn="ctr" indent="0" marL="0">
              <a:buNone/>
            </a:pPr>
            <a:r>
              <a:rPr lang="en-US" sz="1400" dirty="0">
                <a:solidFill>
                  <a:srgbClr val="0B0B0B"/>
                </a:solidFill>
                <a:latin typeface="Calibri" pitchFamily="34" charset="0"/>
                <a:ea typeface="Calibri" pitchFamily="34" charset="-122"/>
                <a:cs typeface="Calibri" pitchFamily="34" charset="-120"/>
              </a:rPr>
              <a:t>Class at center: </a:t>
            </a:r>
            <a:pPr algn="ctr" indent="0" marL="0">
              <a:buNone/>
            </a:pPr>
            <a:r>
              <a:rPr lang="en-US" sz="1400" b="1" dirty="0">
                <a:solidFill>
                  <a:srgbClr val="2A78D6"/>
                </a:solidFill>
                <a:latin typeface="Calibri" pitchFamily="34" charset="0"/>
                <a:ea typeface="Calibri" pitchFamily="34" charset="-122"/>
                <a:cs typeface="Calibri" pitchFamily="34" charset="-120"/>
              </a:rPr>
              <a:t>5, symmetric cold core</a:t>
            </a:r>
            <a:endParaRPr lang="en-US" sz="1400" dirty="0"/>
          </a:p>
        </p:txBody>
      </p:sp>
      <p:sp>
        <p:nvSpPr>
          <p:cNvPr id="8" name="Text 4"/>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9" name="Text 5"/>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docs/cps/figures/fig6_cave_typhoon.jpg">    </p:cNvPr>
          <p:cNvPicPr>
            <a:picLocks noChangeAspect="1"/>
          </p:cNvPicPr>
          <p:nvPr/>
        </p:nvPicPr>
        <p:blipFill>
          <a:blip r:embed="rId1"/>
          <a:stretch>
            <a:fillRect/>
          </a:stretch>
        </p:blipFill>
        <p:spPr>
          <a:xfrm>
            <a:off x="914400" y="777240"/>
            <a:ext cx="7315200" cy="2148840"/>
          </a:xfrm>
          <a:prstGeom prst="rect">
            <a:avLst/>
          </a:prstGeom>
        </p:spPr>
      </p:pic>
      <p:sp>
        <p:nvSpPr>
          <p:cNvPr id="4" name="Text 1"/>
          <p:cNvSpPr txBox="1"/>
          <p:nvPr/>
        </p:nvSpPr>
        <p:spPr>
          <a:xfrm>
            <a:off x="457200" y="2999232"/>
            <a:ext cx="8229600" cy="256032"/>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Operational CAVE display: HVTL (left) and HVTU (right), photographed from the monitor.</a:t>
            </a:r>
            <a:endParaRPr lang="en-US" sz="1100" dirty="0"/>
          </a:p>
        </p:txBody>
      </p:sp>
      <p:sp>
        <p:nvSpPr>
          <p:cNvPr id="5" name="Text 2"/>
          <p:cNvSpPr txBox="1"/>
          <p:nvPr/>
        </p:nvSpPr>
        <p:spPr>
          <a:xfrm>
            <a:off x="457200" y="3429000"/>
            <a:ext cx="8229600" cy="1143000"/>
          </a:xfrm>
          <a:prstGeom prst="rect">
            <a:avLst/>
          </a:prstGeom>
          <a:noFill/>
          <a:ln/>
        </p:spPr>
        <p:txBody>
          <a:bodyPr wrap="square" lIns="0" tIns="0" rIns="0" bIns="0" rtlCol="0" anchor="t"/>
          <a:lstStyle/>
          <a:p>
            <a:pPr algn="l" indent="0" marL="0">
              <a:buNone/>
            </a:pPr>
            <a:r>
              <a:rPr lang="en-US" sz="1400" dirty="0">
                <a:solidFill>
                  <a:srgbClr val="0B0B0B"/>
                </a:solidFill>
                <a:latin typeface="Calibri" pitchFamily="34" charset="0"/>
                <a:ea typeface="Calibri" pitchFamily="34" charset="-122"/>
                <a:cs typeface="Calibri" pitchFamily="34" charset="-120"/>
              </a:rPr>
              <a:t>Read one number at the center: 0 hurricane, 2 to 3 transition under way, 4 cold core, 6 shallow cold core (rare: lower cold, upper warm), 1 after a warm seclusion (4 to 3, or 4 to 1 if B falls too). Compare models on the hour HB crosses 10 m and the hour HVTL crosses zero.</a:t>
            </a:r>
            <a:endParaRPr lang="en-US" sz="14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120 m / 180 m</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typhoon, lower and upper term, deep warm core (not compared to Hart's values; bands differ)</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17 Sep 12Z run</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Dujuan: class leaves deep warm core the same hour FSU shows deep to shallow, within 6 h</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Cold core</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deep North Atlantic low reads cold core; values not recorded, re-sampling</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2.6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forecast hour, 0.25° global grid (median of 4 runs, 2.4–3.0 s)</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spacing</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Square window: small cold bias on strong gradients</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 and transition onset implemented, not yet validated</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Three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160520"/>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Jason Krekeler, NOAA/NWS Ocean Prediction Center</a:t>
            </a:r>
            <a:endParaRPr lang="en-US" sz="1200" dirty="0"/>
          </a:p>
        </p:txBody>
      </p:sp>
      <p:sp>
        <p:nvSpPr>
          <p:cNvPr id="8" name="Text 6"/>
          <p:cNvSpPr txBox="1"/>
          <p:nvPr/>
        </p:nvSpPr>
        <p:spPr>
          <a:xfrm>
            <a:off x="457200" y="4379976"/>
            <a:ext cx="8229600" cy="219456"/>
          </a:xfrm>
          <a:prstGeom prst="rect">
            <a:avLst/>
          </a:prstGeom>
          <a:noFill/>
          <a:ln/>
        </p:spPr>
        <p:txBody>
          <a:bodyPr wrap="square" lIns="0" tIns="0" rIns="0" bIns="0" rtlCol="0" anchor="t"/>
          <a:lstStyle/>
          <a:p>
            <a:pPr algn="l" indent="0" marL="0">
              <a:buNone/>
            </a:pPr>
            <a:r>
              <a:rPr lang="en-US" sz="1200" dirty="0">
                <a:solidFill>
                  <a:srgbClr val="CADCFC"/>
                </a:solidFill>
                <a:latin typeface="Calibri" pitchFamily="34" charset="0"/>
                <a:ea typeface="Calibri" pitchFamily="34" charset="-122"/>
                <a:cs typeface="Calibri" pitchFamily="34" charset="-120"/>
              </a:rPr>
              <a:t>github.com/jkrek17/awips-tools, directory D2D</a:t>
            </a:r>
            <a:endParaRPr lang="en-US" sz="1200" dirty="0"/>
          </a:p>
        </p:txBody>
      </p:sp>
      <p:sp>
        <p:nvSpPr>
          <p:cNvPr id="9" name="Text 7"/>
          <p:cNvSpPr txBox="1"/>
          <p:nvPr/>
        </p:nvSpPr>
        <p:spPr>
          <a:xfrm>
            <a:off x="457200" y="4599432"/>
            <a:ext cx="8229600" cy="292608"/>
          </a:xfrm>
          <a:prstGeom prst="rect">
            <a:avLst/>
          </a:prstGeom>
          <a:noFill/>
          <a:ln/>
        </p:spPr>
        <p:txBody>
          <a:bodyPr wrap="square" lIns="0" tIns="0" rIns="0" bIns="0" rtlCol="0" anchor="t"/>
          <a:lstStyle/>
          <a:p>
            <a:pPr algn="l" indent="0" marL="0">
              <a:buNone/>
            </a:pPr>
            <a:r>
              <a:rPr lang="en-US" sz="1800" b="1" dirty="0">
                <a:solidFill>
                  <a:srgbClr val="FFFFFF"/>
                </a:solidFill>
                <a:latin typeface="Cambria" pitchFamily="34" charset="0"/>
                <a:ea typeface="Cambria" pitchFamily="34" charset="-122"/>
                <a:cs typeface="Cambria" pitchFamily="34" charset="-120"/>
              </a:rPr>
              <a:t>Questions?</a:t>
            </a:r>
            <a:endParaRPr lang="en-US" sz="1800" dirty="0"/>
          </a:p>
        </p:txBody>
      </p:sp>
      <p:sp>
        <p:nvSpPr>
          <p:cNvPr id="10" name="Text 8"/>
          <p:cNvSpPr txBox="1"/>
          <p:nvPr/>
        </p:nvSpPr>
        <p:spPr>
          <a:xfrm>
            <a:off x="457200" y="4919472"/>
            <a:ext cx="8229600" cy="201168"/>
          </a:xfrm>
          <a:prstGeom prst="rect">
            <a:avLst/>
          </a:prstGeom>
          <a:noFill/>
          <a:ln/>
        </p:spPr>
        <p:txBody>
          <a:bodyPr wrap="square" lIns="0" tIns="0" rIns="0" bIns="0" rtlCol="0" anchor="t"/>
          <a:lstStyle/>
          <a:p>
            <a:pPr algn="l" indent="0" marL="0">
              <a:buNone/>
            </a:pPr>
            <a:r>
              <a:rPr lang="en-US" sz="750" dirty="0">
                <a:solidFill>
                  <a:srgbClr val="52514E"/>
                </a:solidFill>
                <a:latin typeface="Calibri" pitchFamily="34" charset="0"/>
                <a:ea typeface="Calibri" pitchFamily="34" charset="-122"/>
                <a:cs typeface="Calibri" pitchFamily="34" charset="-120"/>
              </a:rPr>
              <a:t>References: Hart (2003), Mon. Wea. Rev. 131, 585–616. Evans and Hart (2003), Mon. Wea. Rev. 131, 909–925. Hart et al. (2006), Mon. Wea. Rev. 134, 553–578.</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2026-09-19T20:12:46Z</dcterms:created>
  <dcterms:modified xsi:type="dcterms:W3CDTF">2026-09-19T20:12:46Z</dcterms:modified>
</cp:coreProperties>
</file>