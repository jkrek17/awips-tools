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asymmetric.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asymmetric,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asymmetric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capture is the North Atlantic at 6 hours of the 24 September run: HB paints the polar front magenta, HVTU is blue under the jet, and the 959 millibar low south of Greenland reads as a warm seclusion, red lower core, blue upper, B near zero at the center with the magenta band wrapped around it. The class reads at the storm's center, one number for one of seven classes built from Hart's two diagrams: symmetric or asymmetric,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cyclone_phase_space/article/figures/fig10_cave_4panel.jpg">    </p:cNvPr>
          <p:cNvPicPr>
            <a:picLocks noChangeAspect="1"/>
          </p:cNvPicPr>
          <p:nvPr/>
        </p:nvPicPr>
        <p:blipFill>
          <a:blip r:embed="rId1"/>
          <a:stretch>
            <a:fillRect/>
          </a:stretch>
        </p:blipFill>
        <p:spPr>
          <a:xfrm>
            <a:off x="4663440" y="1499159"/>
            <a:ext cx="4206240" cy="214518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asymmetric</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cyclone_phase_space/article/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cyclone_phase_space/article/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cyclone_phase_space/article/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cyclone_phase_space/article/figures/fig10_cave_4panel.jpg">    </p:cNvPr>
          <p:cNvPicPr>
            <a:picLocks noChangeAspect="1"/>
          </p:cNvPicPr>
          <p:nvPr/>
        </p:nvPicPr>
        <p:blipFill>
          <a:blip r:embed="rId1"/>
          <a:stretch>
            <a:fillRect/>
          </a:stretch>
        </p:blipFill>
        <p:spPr>
          <a:xfrm>
            <a:off x="457200" y="914400"/>
            <a:ext cx="5394960" cy="2751430"/>
          </a:xfrm>
          <a:prstGeom prst="rect">
            <a:avLst/>
          </a:prstGeom>
        </p:spPr>
      </p:pic>
      <p:sp>
        <p:nvSpPr>
          <p:cNvPr id="4" name="Text 1"/>
          <p:cNvSpPr txBox="1"/>
          <p:nvPr/>
        </p:nvSpPr>
        <p:spPr>
          <a:xfrm>
            <a:off x="457200" y="3738982"/>
            <a:ext cx="5394960" cy="548640"/>
          </a:xfrm>
          <a:prstGeom prst="rect">
            <a:avLst/>
          </a:prstGeom>
          <a:noFill/>
          <a:ln/>
        </p:spPr>
        <p:txBody>
          <a:bodyPr wrap="square" lIns="0" tIns="0" rIns="0" bIns="0" rtlCol="0" anchor="t"/>
          <a:lstStyle/>
          <a:p>
            <a:pPr algn="l" indent="0" marL="0">
              <a:buNone/>
            </a:pPr>
            <a:r>
              <a:rPr lang="en-US" sz="1000" i="1" dirty="0">
                <a:solidFill>
                  <a:srgbClr val="52514E"/>
                </a:solidFill>
                <a:latin typeface="Calibri" pitchFamily="34" charset="0"/>
                <a:ea typeface="Calibri" pitchFamily="34" charset="-122"/>
                <a:cs typeface="Calibri" pitchFamily="34" charset="-120"/>
              </a:rPr>
              <a:t>CAVE four-panel on the North Atlantic, 6 h of the 24 Sep 06Z GFS: class (top left), HB (top right), HVTL with 850 hPa wind (bottom left), HVTU with 300 hPa wind (bottom right). The 959 mb low south of Greenland reads as a warm seclusion: red HVTL, blue HVTU, HB near zero at the center, class 3 with 1 on the flanks.</a:t>
            </a:r>
            <a:endParaRPr lang="en-US" sz="1000" dirty="0"/>
          </a:p>
        </p:txBody>
      </p:sp>
      <p:sp>
        <p:nvSpPr>
          <p:cNvPr id="5" name="Text 2"/>
          <p:cNvSpPr txBox="1"/>
          <p:nvPr/>
        </p:nvSpPr>
        <p:spPr>
          <a:xfrm>
            <a:off x="6126480" y="914400"/>
            <a:ext cx="2560320" cy="3291840"/>
          </a:xfrm>
          <a:prstGeom prst="rect">
            <a:avLst/>
          </a:prstGeom>
          <a:noFill/>
          <a:ln/>
        </p:spPr>
        <p:txBody>
          <a:bodyPr wrap="square" lIns="0" tIns="0" rIns="0" bIns="0" rtlCol="0" anchor="t"/>
          <a:lstStyle/>
          <a:p>
            <a:pPr algn="l" indent="0" marL="0">
              <a:buNone/>
            </a:pPr>
            <a:r>
              <a:rPr lang="en-US" sz="13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a:t>
            </a:r>
            <a:endParaRPr lang="en-US" sz="1300" dirty="0"/>
          </a:p>
          <a:p>
            <a:pPr algn="l" indent="0" marL="0">
              <a:buNone/>
            </a:pPr>
            <a:endParaRPr lang="en-US" sz="1300" dirty="0"/>
          </a:p>
          <a:p>
            <a:pPr algn="l" indent="0" marL="0">
              <a:buNone/>
            </a:pPr>
            <a:r>
              <a:rPr lang="en-US" sz="1300" dirty="0">
                <a:solidFill>
                  <a:srgbClr val="0B0B0B"/>
                </a:solidFill>
                <a:latin typeface="Calibri" pitchFamily="34" charset="0"/>
                <a:ea typeface="Calibri" pitchFamily="34" charset="-122"/>
                <a:cs typeface="Calibri" pitchFamily="34" charset="-120"/>
              </a:rPr>
              <a:t>Compare models on the hour HB crosses 10 m and the hour HVTL crosses zero.</a:t>
            </a:r>
            <a:endParaRPr lang="en-US" sz="13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cyclone_phase_space</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2026-09-24T18:16:36Z</dcterms:created>
  <dcterms:modified xsi:type="dcterms:W3CDTF">2026-09-24T18:16:36Z</dcterms:modified>
</cp:coreProperties>
</file>