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asymmetric.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asymmetric,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The class is the cell of Hart's three-dimensional space the storm falls in, and the two diagrams are that space's projections, which is the picture on the right.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surface pressure and sea level pressure; the asymmetric term also needs winds at four levels. That runs on any model in D2D carrying those fields, with no tracker and no advisory. A closed-low detector on sea level pressure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capture is the North Atlantic at 6 hours of the 24 September run: HB paints the polar front magenta, HVTU is blue under the jet, and the 959 millibar low south of Greenland reads as a warm seclusion, red lower core, blue upper, B near zero at the center with the magenta band wrapped around it. The class reads at the storm's center, one number for one of seven classes built from Hart's two diagrams: symmetric or asymmetric,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Checks so far are GFS cases from five cycles, sampled by hand: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2.7 seconds per forecast hour on the full global grid, the median of four runs, ranging 2.5 to 2.9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standard-level band reads a deep warm core about 12 percent high and a warm seclusion two to three times Hart's value; the square window adds almost nothing for compact storms. B is now computed from true semicircle means and matches Hart's within one percent on a synthetic life cycle, with onset at the same hour, but it has not yet been validated on a real storm. And it's a handful of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cyclone_phase_space/article/figures/fig10_cave_4panel.jpg">    </p:cNvPr>
          <p:cNvPicPr>
            <a:picLocks noChangeAspect="1"/>
          </p:cNvPicPr>
          <p:nvPr/>
        </p:nvPicPr>
        <p:blipFill>
          <a:blip r:embed="rId1"/>
          <a:stretch>
            <a:fillRect/>
          </a:stretch>
        </p:blipFill>
        <p:spPr>
          <a:xfrm>
            <a:off x="4663440" y="1499159"/>
            <a:ext cx="4206240" cy="214518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asymmetric</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cyclone_phase_space/article/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cyclone_phase_space/article/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cyclone_phase_space/article/figures/fig10_two_diagrams.png">    </p:cNvPr>
          <p:cNvPicPr>
            <a:picLocks noChangeAspect="1"/>
          </p:cNvPicPr>
          <p:nvPr/>
        </p:nvPicPr>
        <p:blipFill>
          <a:blip r:embed="rId1"/>
          <a:stretch>
            <a:fillRect/>
          </a:stretch>
        </p:blipFill>
        <p:spPr>
          <a:xfrm>
            <a:off x="457200" y="1003526"/>
            <a:ext cx="4572000" cy="2327204"/>
          </a:xfrm>
          <a:prstGeom prst="rect">
            <a:avLst/>
          </a:prstGeom>
        </p:spPr>
      </p:pic>
      <p:pic>
        <p:nvPicPr>
          <p:cNvPr id="4" name="Image 1" descr="/home/user/awips-tools/cyclone_phase_space/article/figures/figJ_phase_space_3d.png">    </p:cNvPr>
          <p:cNvPicPr>
            <a:picLocks noChangeAspect="1"/>
          </p:cNvPicPr>
          <p:nvPr/>
        </p:nvPicPr>
        <p:blipFill>
          <a:blip r:embed="rId2"/>
          <a:srcRect l="4167" r="51667" t="7627" b="12712"/>
          <a:stretch/>
        </p:blipFill>
        <p:spPr>
          <a:xfrm>
            <a:off x="5284065" y="658368"/>
            <a:ext cx="3402735" cy="3017520"/>
          </a:xfrm>
          <a:prstGeom prst="rect">
            <a:avLst/>
          </a:prstGeom>
        </p:spPr>
      </p:pic>
      <p:sp>
        <p:nvSpPr>
          <p:cNvPr id="5" name="Text 1"/>
          <p:cNvSpPr txBox="1"/>
          <p:nvPr/>
        </p:nvSpPr>
        <p:spPr>
          <a:xfrm>
            <a:off x="457200" y="3403882"/>
            <a:ext cx="4572000" cy="45720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6" name="Text 2"/>
          <p:cNvSpPr txBox="1"/>
          <p:nvPr/>
        </p:nvSpPr>
        <p:spPr>
          <a:xfrm>
            <a:off x="5284065" y="3730752"/>
            <a:ext cx="3402735" cy="45720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One 3-D space, seven boxes: the class is the box the storm's point sits in.</a:t>
            </a:r>
            <a:endParaRPr lang="en-US" sz="1200" dirty="0"/>
          </a:p>
        </p:txBody>
      </p:sp>
      <p:sp>
        <p:nvSpPr>
          <p:cNvPr id="7" name="Text 3"/>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cyclone_phase_space/article/figures/fig10_cave_4panel.jpg">    </p:cNvPr>
          <p:cNvPicPr>
            <a:picLocks noChangeAspect="1"/>
          </p:cNvPicPr>
          <p:nvPr/>
        </p:nvPicPr>
        <p:blipFill>
          <a:blip r:embed="rId1"/>
          <a:stretch>
            <a:fillRect/>
          </a:stretch>
        </p:blipFill>
        <p:spPr>
          <a:xfrm>
            <a:off x="457200" y="914400"/>
            <a:ext cx="5394960" cy="2751430"/>
          </a:xfrm>
          <a:prstGeom prst="rect">
            <a:avLst/>
          </a:prstGeom>
        </p:spPr>
      </p:pic>
      <p:sp>
        <p:nvSpPr>
          <p:cNvPr id="4" name="Text 1"/>
          <p:cNvSpPr txBox="1"/>
          <p:nvPr/>
        </p:nvSpPr>
        <p:spPr>
          <a:xfrm>
            <a:off x="457200" y="3738982"/>
            <a:ext cx="5394960" cy="548640"/>
          </a:xfrm>
          <a:prstGeom prst="rect">
            <a:avLst/>
          </a:prstGeom>
          <a:noFill/>
          <a:ln/>
        </p:spPr>
        <p:txBody>
          <a:bodyPr wrap="square" lIns="0" tIns="0" rIns="0" bIns="0" rtlCol="0" anchor="t"/>
          <a:lstStyle/>
          <a:p>
            <a:pPr algn="l" indent="0" marL="0">
              <a:buNone/>
            </a:pPr>
            <a:r>
              <a:rPr lang="en-US" sz="1000" i="1" dirty="0">
                <a:solidFill>
                  <a:srgbClr val="52514E"/>
                </a:solidFill>
                <a:latin typeface="Calibri" pitchFamily="34" charset="0"/>
                <a:ea typeface="Calibri" pitchFamily="34" charset="-122"/>
                <a:cs typeface="Calibri" pitchFamily="34" charset="-120"/>
              </a:rPr>
              <a:t>CAVE four-panel on the North Atlantic, 6 h of the 24 Sep 06Z GFS: class (top left), HB (top right), HVTL with 850 hPa wind (bottom left), HVTU with 300 hPa wind (bottom right). The 959 mb low south of Greenland reads as a warm seclusion: red HVTL, blue HVTU, HB near zero at the center, class 3 with 1 on the flanks.</a:t>
            </a:r>
            <a:endParaRPr lang="en-US" sz="1000" dirty="0"/>
          </a:p>
        </p:txBody>
      </p:sp>
      <p:sp>
        <p:nvSpPr>
          <p:cNvPr id="5" name="Text 2"/>
          <p:cNvSpPr txBox="1"/>
          <p:nvPr/>
        </p:nvSpPr>
        <p:spPr>
          <a:xfrm>
            <a:off x="6126480" y="914400"/>
            <a:ext cx="2560320" cy="3291840"/>
          </a:xfrm>
          <a:prstGeom prst="rect">
            <a:avLst/>
          </a:prstGeom>
          <a:noFill/>
          <a:ln/>
        </p:spPr>
        <p:txBody>
          <a:bodyPr wrap="square" lIns="0" tIns="0" rIns="0" bIns="0" rtlCol="0" anchor="t"/>
          <a:lstStyle/>
          <a:p>
            <a:pPr algn="l" indent="0" marL="0">
              <a:buNone/>
            </a:pPr>
            <a:r>
              <a:rPr lang="en-US" sz="13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a:t>
            </a:r>
            <a:endParaRPr lang="en-US" sz="1300" dirty="0"/>
          </a:p>
          <a:p>
            <a:pPr algn="l" indent="0" marL="0">
              <a:buNone/>
            </a:pPr>
            <a:endParaRPr lang="en-US" sz="1300" dirty="0"/>
          </a:p>
          <a:p>
            <a:pPr algn="l" indent="0" marL="0">
              <a:buNone/>
            </a:pPr>
            <a:r>
              <a:rPr lang="en-US" sz="1300" dirty="0">
                <a:solidFill>
                  <a:srgbClr val="0B0B0B"/>
                </a:solidFill>
                <a:latin typeface="Calibri" pitchFamily="34" charset="0"/>
                <a:ea typeface="Calibri" pitchFamily="34" charset="-122"/>
                <a:cs typeface="Calibri" pitchFamily="34" charset="-120"/>
              </a:rPr>
              <a:t>Compare models on the hour HB crosses 10 m and the hour HVTL crosses zero.</a:t>
            </a:r>
            <a:endParaRPr lang="en-US" sz="13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0 → 2 → 3 → 1</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one typhoon, GFS 20 Sep 06Z: deep warm at 0 h, onset by 24 h (B 13 m), upper core lost by 48 h, seclusion by 96 h (lower +241 m, upper −295 m, B 0.5 m)</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Matches FSU</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Hart's own diagrams for the storm trace the same sequence; cold-phase upper term −290 m vs his −300 m</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+3 m</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the one class 6 frame at 120 h has an upper term of +3 m: a threshold artifact, read as class 4</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2.7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2.5–2.9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deep warm core reads 12% high, seclusion 2 to 3 times his</a:t>
            </a:r>
            <a:endParaRPr lang="en-US" sz="1600" dirty="0"/>
          </a:p>
          <a:p>
            <a:pPr algn="l" marL="342900" indent="-3429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B from semicircle means matches Hart on a synthetic life cycle; no real-storm check yet</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A handful of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cyclone_phase_space</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2026-09-24T21:00:04Z</dcterms:created>
  <dcterms:modified xsi:type="dcterms:W3CDTF">2026-09-24T21:00:04Z</dcterms:modified>
</cp:coreProperties>
</file>