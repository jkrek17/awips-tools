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asymmetric.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asymmetric,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The class is the cell of Hart's three-dimensional space the storm falls in, and the two diagrams are that space's projections, which is the picture on the right.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circle at each level and regresses it against log pressure: Hart's own definition, evaluated everywhere instead of at one tracked center. The circle is his; the standard levels keep the magnitudes close to his, not identical. It needs geopotential height on standard levels, surface pressure and sea level pressure; the asymmetric term also needs winds at four levels. That runs on any model in D2D carrying those fields, with no tracker and no advisory. A closed-low detector on sea level pressure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288 meters and HVTU minus 296,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capture is the North Atlantic at 6 hours of the 24 September run: HB paints the polar front magenta, HVTU is blue under the jet, and the 959 millibar low south of Greenland reads as a warm seclusion, red lower core, blue upper, B near zero at the center with the magenta band wrapped around it. The class reads at the storm's center, one number for one of seven classes built from Hart's two diagrams: symmetric or asymmetric,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Checks so far are GFS cases from five cycles, sampled by hand: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2.4 seconds per forecast hour on the full global grid, the median of four runs, ranging 2.3 to 2.7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standard-level band reads a deep warm core about 12 percent high and a warm seclusion two to three times Hart's value. The window is now Hart's own circle; the square we used before read cold cores about 50 meters too cold. B is now computed from true semicircle means and matches Hart's within one percent on a synthetic life cycle, with onset and completion at the same hours, but it has not yet been validated on a real storm. And it's a handful of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cyclone_phase_space/article/figures/fig10_cave_4panel.jpg">    </p:cNvPr>
          <p:cNvPicPr>
            <a:picLocks noChangeAspect="1"/>
          </p:cNvPicPr>
          <p:nvPr/>
        </p:nvPicPr>
        <p:blipFill>
          <a:blip r:embed="rId1"/>
          <a:stretch>
            <a:fillRect/>
          </a:stretch>
        </p:blipFill>
        <p:spPr>
          <a:xfrm>
            <a:off x="4663440" y="1499159"/>
            <a:ext cx="4206240" cy="214518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ircle_docs/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asymmetric</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cyclone_phase_space/article/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cyclone_phase_space/article/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cyclone_phase_space/article/figures/fig10_two_diagrams.png">    </p:cNvPr>
          <p:cNvPicPr>
            <a:picLocks noChangeAspect="1"/>
          </p:cNvPicPr>
          <p:nvPr/>
        </p:nvPicPr>
        <p:blipFill>
          <a:blip r:embed="rId1"/>
          <a:stretch>
            <a:fillRect/>
          </a:stretch>
        </p:blipFill>
        <p:spPr>
          <a:xfrm>
            <a:off x="457200" y="1003526"/>
            <a:ext cx="4572000" cy="2327204"/>
          </a:xfrm>
          <a:prstGeom prst="rect">
            <a:avLst/>
          </a:prstGeom>
        </p:spPr>
      </p:pic>
      <p:pic>
        <p:nvPicPr>
          <p:cNvPr id="4" name="Image 1" descr="/home/user/awips-tools/cyclone_phase_space/article/figures/figJ_phase_space_3d.png">    </p:cNvPr>
          <p:cNvPicPr>
            <a:picLocks noChangeAspect="1"/>
          </p:cNvPicPr>
          <p:nvPr/>
        </p:nvPicPr>
        <p:blipFill>
          <a:blip r:embed="rId2"/>
          <a:srcRect l="4167" r="51667" t="7627" b="12712"/>
          <a:stretch/>
        </p:blipFill>
        <p:spPr>
          <a:xfrm>
            <a:off x="5284065" y="658368"/>
            <a:ext cx="3402735" cy="3017520"/>
          </a:xfrm>
          <a:prstGeom prst="rect">
            <a:avLst/>
          </a:prstGeom>
        </p:spPr>
      </p:pic>
      <p:sp>
        <p:nvSpPr>
          <p:cNvPr id="5" name="Text 1"/>
          <p:cNvSpPr txBox="1"/>
          <p:nvPr/>
        </p:nvSpPr>
        <p:spPr>
          <a:xfrm>
            <a:off x="457200" y="3403882"/>
            <a:ext cx="4572000" cy="45720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6" name="Text 2"/>
          <p:cNvSpPr txBox="1"/>
          <p:nvPr/>
        </p:nvSpPr>
        <p:spPr>
          <a:xfrm>
            <a:off x="5284065" y="3730752"/>
            <a:ext cx="3402735" cy="45720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One 3-D space, seven boxes: the class is the box the storm's point sits in.</a:t>
            </a:r>
            <a:endParaRPr lang="en-US" sz="1200" dirty="0"/>
          </a:p>
        </p:txBody>
      </p:sp>
      <p:sp>
        <p:nvSpPr>
          <p:cNvPr id="7" name="Text 3"/>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ircle_docs/crops/fig3_panel_b.png">    </p:cNvPr>
          <p:cNvPicPr>
            <a:picLocks noChangeAspect="1"/>
          </p:cNvPicPr>
          <p:nvPr/>
        </p:nvPicPr>
        <p:blipFill>
          <a:blip r:embed="rId1"/>
          <a:stretch>
            <a:fillRect/>
          </a:stretch>
        </p:blipFill>
        <p:spPr>
          <a:xfrm>
            <a:off x="694874" y="777240"/>
            <a:ext cx="3090812" cy="2743200"/>
          </a:xfrm>
          <a:prstGeom prst="rect">
            <a:avLst/>
          </a:prstGeom>
        </p:spPr>
      </p:pic>
      <p:pic>
        <p:nvPicPr>
          <p:cNvPr id="4" name="Image 1" descr="/tmp/claude-0/-home-user-awips-tools/3a4711f2-52b1-52e4-8d45-df8bae2bffec/scratchpad/circle_docs/crops/fig3_panel_d.png">    </p:cNvPr>
          <p:cNvPicPr>
            <a:picLocks noChangeAspect="1"/>
          </p:cNvPicPr>
          <p:nvPr/>
        </p:nvPicPr>
        <p:blipFill>
          <a:blip r:embed="rId2"/>
          <a:stretch>
            <a:fillRect/>
          </a:stretch>
        </p:blipFill>
        <p:spPr>
          <a:xfrm>
            <a:off x="4060006" y="777240"/>
            <a:ext cx="4389120"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circle (Hart's),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ircle_docs/crops/fig4_panel_a.png">    </p:cNvPr>
          <p:cNvPicPr>
            <a:picLocks noChangeAspect="1"/>
          </p:cNvPicPr>
          <p:nvPr/>
        </p:nvPicPr>
        <p:blipFill>
          <a:blip r:embed="rId1"/>
          <a:stretch>
            <a:fillRect/>
          </a:stretch>
        </p:blipFill>
        <p:spPr>
          <a:xfrm>
            <a:off x="1294520" y="777240"/>
            <a:ext cx="3140320" cy="2468880"/>
          </a:xfrm>
          <a:prstGeom prst="rect">
            <a:avLst/>
          </a:prstGeom>
        </p:spPr>
      </p:pic>
      <p:pic>
        <p:nvPicPr>
          <p:cNvPr id="4" name="Image 1" descr="/tmp/claude-0/-home-user-awips-tools/3a4711f2-52b1-52e4-8d45-df8bae2bffec/scratchpad/circle_docs/crops/fig4_panel_c.png">    </p:cNvPr>
          <p:cNvPicPr>
            <a:picLocks noChangeAspect="1"/>
          </p:cNvPicPr>
          <p:nvPr/>
        </p:nvPicPr>
        <p:blipFill>
          <a:blip r:embed="rId2"/>
          <a:stretch>
            <a:fillRect/>
          </a:stretch>
        </p:blipFill>
        <p:spPr>
          <a:xfrm>
            <a:off x="4709160" y="777240"/>
            <a:ext cx="3140320"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-296 m; HVTL -288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cyclone_phase_space/article/figures/fig10_cave_4panel.jpg">    </p:cNvPr>
          <p:cNvPicPr>
            <a:picLocks noChangeAspect="1"/>
          </p:cNvPicPr>
          <p:nvPr/>
        </p:nvPicPr>
        <p:blipFill>
          <a:blip r:embed="rId1"/>
          <a:stretch>
            <a:fillRect/>
          </a:stretch>
        </p:blipFill>
        <p:spPr>
          <a:xfrm>
            <a:off x="457200" y="914400"/>
            <a:ext cx="5394960" cy="2751430"/>
          </a:xfrm>
          <a:prstGeom prst="rect">
            <a:avLst/>
          </a:prstGeom>
        </p:spPr>
      </p:pic>
      <p:sp>
        <p:nvSpPr>
          <p:cNvPr id="4" name="Text 1"/>
          <p:cNvSpPr txBox="1"/>
          <p:nvPr/>
        </p:nvSpPr>
        <p:spPr>
          <a:xfrm>
            <a:off x="457200" y="3738982"/>
            <a:ext cx="5394960" cy="548640"/>
          </a:xfrm>
          <a:prstGeom prst="rect">
            <a:avLst/>
          </a:prstGeom>
          <a:noFill/>
          <a:ln/>
        </p:spPr>
        <p:txBody>
          <a:bodyPr wrap="square" lIns="0" tIns="0" rIns="0" bIns="0" rtlCol="0" anchor="t"/>
          <a:lstStyle/>
          <a:p>
            <a:pPr algn="l" indent="0" marL="0">
              <a:buNone/>
            </a:pPr>
            <a:r>
              <a:rPr lang="en-US" sz="1000" i="1" dirty="0">
                <a:solidFill>
                  <a:srgbClr val="52514E"/>
                </a:solidFill>
                <a:latin typeface="Calibri" pitchFamily="34" charset="0"/>
                <a:ea typeface="Calibri" pitchFamily="34" charset="-122"/>
                <a:cs typeface="Calibri" pitchFamily="34" charset="-120"/>
              </a:rPr>
              <a:t>CAVE four-panel on the North Atlantic, 6 h of the 24 Sep 06Z GFS: class (top left), HB (top right), HVTL with 850 hPa wind (bottom left), HVTU with 300 hPa wind (bottom right). The 959 mb low south of Greenland reads as a warm seclusion: red HVTL, blue HVTU, HB near zero at the center, class 3 with 1 on the flanks.</a:t>
            </a:r>
            <a:endParaRPr lang="en-US" sz="1000" dirty="0"/>
          </a:p>
        </p:txBody>
      </p:sp>
      <p:sp>
        <p:nvSpPr>
          <p:cNvPr id="5" name="Text 2"/>
          <p:cNvSpPr txBox="1"/>
          <p:nvPr/>
        </p:nvSpPr>
        <p:spPr>
          <a:xfrm>
            <a:off x="6126480" y="914400"/>
            <a:ext cx="2560320" cy="3291840"/>
          </a:xfrm>
          <a:prstGeom prst="rect">
            <a:avLst/>
          </a:prstGeom>
          <a:noFill/>
          <a:ln/>
        </p:spPr>
        <p:txBody>
          <a:bodyPr wrap="square" lIns="0" tIns="0" rIns="0" bIns="0" rtlCol="0" anchor="t"/>
          <a:lstStyle/>
          <a:p>
            <a:pPr algn="l" indent="0" marL="0">
              <a:buNone/>
            </a:pPr>
            <a:r>
              <a:rPr lang="en-US" sz="13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a:t>
            </a:r>
            <a:endParaRPr lang="en-US" sz="1300" dirty="0"/>
          </a:p>
          <a:p>
            <a:pPr algn="l" indent="0" marL="0">
              <a:buNone/>
            </a:pPr>
            <a:endParaRPr lang="en-US" sz="1300" dirty="0"/>
          </a:p>
          <a:p>
            <a:pPr algn="l" indent="0" marL="0">
              <a:buNone/>
            </a:pPr>
            <a:r>
              <a:rPr lang="en-US" sz="1300" dirty="0">
                <a:solidFill>
                  <a:srgbClr val="0B0B0B"/>
                </a:solidFill>
                <a:latin typeface="Calibri" pitchFamily="34" charset="0"/>
                <a:ea typeface="Calibri" pitchFamily="34" charset="-122"/>
                <a:cs typeface="Calibri" pitchFamily="34" charset="-120"/>
              </a:rPr>
              <a:t>Compare models on the hour HB crosses 10 m and the hour HVTL crosses zero.</a:t>
            </a:r>
            <a:endParaRPr lang="en-US" sz="13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2.4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2.3–2.7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deep warm core reads 12% high, seclusion 2 to 3 times his</a:t>
            </a:r>
            <a:endParaRPr lang="en-US" sz="1600" dirty="0"/>
          </a:p>
          <a:p>
            <a:pPr algn="l"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B from semicircle means matches Hart on a synthetic life cycle; no real-storm check yet</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A handful of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cyclone_phase_space</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2026-09-27T14:02:10Z</dcterms:created>
  <dcterms:modified xsi:type="dcterms:W3CDTF">2026-09-27T14:02:10Z</dcterms:modified>
</cp:coreProperties>
</file>